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rthik Ram Prasad" userId="d705ce55a0377489" providerId="LiveId" clId="{F8C1D298-1454-4555-A45D-B4D369EA1C70}"/>
    <pc:docChg chg="custSel modSld">
      <pc:chgData name="Karthik Ram Prasad" userId="d705ce55a0377489" providerId="LiveId" clId="{F8C1D298-1454-4555-A45D-B4D369EA1C70}" dt="2026-10-17T04:05:34.654" v="52" actId="20577"/>
      <pc:docMkLst>
        <pc:docMk/>
      </pc:docMkLst>
      <pc:sldChg chg="modSp mod">
        <pc:chgData name="Karthik Ram Prasad" userId="d705ce55a0377489" providerId="LiveId" clId="{F8C1D298-1454-4555-A45D-B4D369EA1C70}" dt="2026-10-17T04:05:34.654" v="52" actId="20577"/>
        <pc:sldMkLst>
          <pc:docMk/>
          <pc:sldMk cId="0" sldId="256"/>
        </pc:sldMkLst>
        <pc:spChg chg="mod">
          <ac:chgData name="Karthik Ram Prasad" userId="d705ce55a0377489" providerId="LiveId" clId="{F8C1D298-1454-4555-A45D-B4D369EA1C70}" dt="2026-10-17T04:05:03.297" v="51" actId="1076"/>
          <ac:spMkLst>
            <pc:docMk/>
            <pc:sldMk cId="0" sldId="256"/>
            <ac:spMk id="18" creationId="{00000000-0000-0000-0000-000000000000}"/>
          </ac:spMkLst>
        </pc:spChg>
        <pc:spChg chg="mod">
          <ac:chgData name="Karthik Ram Prasad" userId="d705ce55a0377489" providerId="LiveId" clId="{F8C1D298-1454-4555-A45D-B4D369EA1C70}" dt="2026-10-17T04:05:34.654" v="52" actId="20577"/>
          <ac:spMkLst>
            <pc:docMk/>
            <pc:sldMk cId="0" sldId="256"/>
            <ac:spMk id="19" creationId="{00000000-0000-0000-0000-000000000000}"/>
          </ac:spMkLst>
        </pc:spChg>
        <pc:spChg chg="mod">
          <ac:chgData name="Karthik Ram Prasad" userId="d705ce55a0377489" providerId="LiveId" clId="{F8C1D298-1454-4555-A45D-B4D369EA1C70}" dt="2026-10-17T02:56:58.315" v="32" actId="20577"/>
          <ac:spMkLst>
            <pc:docMk/>
            <pc:sldMk cId="0" sldId="256"/>
            <ac:spMk id="20" creationId="{00000000-0000-0000-0000-000000000000}"/>
          </ac:spMkLst>
        </pc:spChg>
      </pc:sldChg>
      <pc:sldChg chg="addSp delSp modSp mod">
        <pc:chgData name="Karthik Ram Prasad" userId="d705ce55a0377489" providerId="LiveId" clId="{F8C1D298-1454-4555-A45D-B4D369EA1C70}" dt="2026-10-17T02:57:59.433" v="47" actId="14100"/>
        <pc:sldMkLst>
          <pc:docMk/>
          <pc:sldMk cId="0" sldId="264"/>
        </pc:sldMkLst>
        <pc:picChg chg="del">
          <ac:chgData name="Karthik Ram Prasad" userId="d705ce55a0377489" providerId="LiveId" clId="{F8C1D298-1454-4555-A45D-B4D369EA1C70}" dt="2026-10-17T02:57:11.437" v="33" actId="21"/>
          <ac:picMkLst>
            <pc:docMk/>
            <pc:sldMk cId="0" sldId="264"/>
            <ac:picMk id="13" creationId="{00000000-0000-0000-0000-000000000000}"/>
          </ac:picMkLst>
        </pc:picChg>
        <pc:picChg chg="add mod">
          <ac:chgData name="Karthik Ram Prasad" userId="d705ce55a0377489" providerId="LiveId" clId="{F8C1D298-1454-4555-A45D-B4D369EA1C70}" dt="2026-10-17T02:57:59.433" v="47" actId="14100"/>
          <ac:picMkLst>
            <pc:docMk/>
            <pc:sldMk cId="0" sldId="264"/>
            <ac:picMk id="20" creationId="{2D52663C-D2FC-D534-46D6-317CA46A827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19156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411480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548640"/>
            <a:ext cx="4389120" cy="320040"/>
          </a:xfrm>
          <a:prstGeom prst="roundRect">
            <a:avLst>
              <a:gd name="adj" fmla="val 22857"/>
            </a:avLst>
          </a:prstGeom>
          <a:solidFill>
            <a:srgbClr val="E0F2FE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9436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B.TECH FULL STACK WEB DEVELOPMENT PROJECT REVIEW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00584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Air Pharma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17830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Cleanroom Environment and Air Quality Monitor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233172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full-stack web monitoring system designed to track, evaluate, and persist critical cleanroom parameters in real time using Express.js, Socket.IO, React, and PostgreSQL.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80960" y="731520"/>
            <a:ext cx="3776472" cy="2926080"/>
          </a:xfrm>
          <a:prstGeom prst="roundRect">
            <a:avLst>
              <a:gd name="adj" fmla="val 3750"/>
            </a:avLst>
          </a:prstGeom>
          <a:solidFill>
            <a:srgbClr val="F8FAFC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0" name="Image 0" descr="C:\Users\karth\.gemini\antigravity\scratch\cleanair-pharma\client\src\assets\her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863840" y="914400"/>
            <a:ext cx="3410712" cy="21031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863840" y="3108960"/>
            <a:ext cx="34107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Pharmaceutical Cleanroom Grade B / ISO Class 7 Monitoring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731520" y="3474720"/>
            <a:ext cx="5166360" cy="2468880"/>
          </a:xfrm>
          <a:prstGeom prst="roundRect">
            <a:avLst>
              <a:gd name="adj" fmla="val 4444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05840" y="3703320"/>
            <a:ext cx="1828800" cy="256032"/>
          </a:xfrm>
          <a:prstGeom prst="roundRect">
            <a:avLst>
              <a:gd name="adj" fmla="val 17857"/>
            </a:avLst>
          </a:prstGeom>
          <a:solidFill>
            <a:srgbClr val="CCFBF1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05840" y="37490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GUIDE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005840" y="40690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Karumuri Sri Rama Murthy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005840" y="443484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Assistant Professor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CSE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KLU Hyderabad, Hyderabad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263640" y="3474720"/>
            <a:ext cx="5193792" cy="2468880"/>
          </a:xfrm>
          <a:prstGeom prst="roundRect">
            <a:avLst>
              <a:gd name="adj" fmla="val 4444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483096" y="3708918"/>
            <a:ext cx="2377440" cy="256032"/>
          </a:xfrm>
          <a:prstGeom prst="roundRect">
            <a:avLst>
              <a:gd name="adj" fmla="val 17857"/>
            </a:avLst>
          </a:prstGeom>
          <a:solidFill>
            <a:srgbClr val="E0F2FE"/>
          </a:solidFill>
          <a:ln w="635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9" name="Text 16"/>
          <p:cNvSpPr/>
          <p:nvPr/>
        </p:nvSpPr>
        <p:spPr>
          <a:xfrm>
            <a:off x="6537960" y="374904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TEAM  •  TEAM NO</a:t>
            </a:r>
            <a:r>
              <a:rPr lang="en-US" sz="850" b="1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18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6537960" y="4069080"/>
            <a:ext cx="4663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2520040035  –  K. Harshit
2. 2520040046  –  N. Karthik Ram Prasad
3. 2520049126  –  M. Tirumala Teja
</a:t>
            </a: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Computer Science &amp; Engineering</a:t>
            </a:r>
            <a:endParaRPr lang="en-US" sz="125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Koneru Lakshmaiah Education Foundation (KLU Hyderabad)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01. EXECUTIVE SUMMARY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High-level project scope, purpose, and architecture overview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261872"/>
            <a:ext cx="10725912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261872"/>
            <a:ext cx="137160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463040"/>
            <a:ext cx="5166360" cy="4663440"/>
          </a:xfrm>
          <a:prstGeom prst="roundRect">
            <a:avLst>
              <a:gd name="adj" fmla="val 235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463040"/>
            <a:ext cx="137160" cy="466344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691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Cleanroom Monitoring Context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2148840"/>
            <a:ext cx="448056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Controlled Cleanroom Environment: </a:t>
            </a: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Pharmaceutical cleanrooms require strict, continuous environmental control to protect sterile drug products from contamination.
</a:t>
            </a:r>
            <a:r>
              <a:rPr lang="en-US" sz="12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Monitored Parameters: </a:t>
            </a: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observation of Temperature, Humidity, CO2, PM2.5, PM10, Differential Pressure, VOC, and Particle Count is critical.
</a:t>
            </a:r>
            <a:r>
              <a:rPr lang="en-US" sz="12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with Manual Logging: </a:t>
            </a: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Periodic manual clipboard recording makes it difficult to detect sudden air quality excursions or HVAC failures in real time.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63640" y="1463040"/>
            <a:ext cx="5193792" cy="4663440"/>
          </a:xfrm>
          <a:prstGeom prst="roundRect">
            <a:avLst>
              <a:gd name="adj" fmla="val 235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1463040"/>
            <a:ext cx="137160" cy="4663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29400" y="1691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Solution &amp; Scope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629400" y="2148840"/>
            <a:ext cx="448056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Web-Based Real-Time Dashboard: </a:t>
            </a: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CleanAir-Pharma provides a centralized web dashboard to view live environmental readings with zero page refreshes.
</a:t>
            </a:r>
            <a:r>
              <a:rPr lang="en-US" sz="12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Architecture: </a:t>
            </a: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Combines a responsive frontend, an Express.js backend API, and a PostgreSQL database for structured telemetry persistence.
</a:t>
            </a:r>
            <a:r>
              <a:rPr lang="en-US" sz="12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Alerts &amp; Extensibility: </a:t>
            </a: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Automatically tags conditions as NORMAL, WARNING, or CRITICAL and can be extended with physical IoT sensors.
</a:t>
            </a: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</a:t>
            </a: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environmental cleanroom telemetry easily accessible, visual, and traceable for review without claiming formal regulatory certification.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6446520"/>
            <a:ext cx="10725912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6510528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Air Pharma: Cleanroom Environment and Air Quality Monitor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760720" y="6510528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KLU Hyderabad • Department of CSE • Team No: 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875520" y="6510528"/>
            <a:ext cx="15819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 of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02. BACKGROUND &amp; CHALLENGES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Description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limitations and data risks in conventional cleanroom facilities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261872"/>
            <a:ext cx="10725912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261872"/>
            <a:ext cx="137160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08760"/>
            <a:ext cx="3337560" cy="3840480"/>
          </a:xfrm>
          <a:prstGeom prst="roundRect">
            <a:avLst>
              <a:gd name="adj" fmla="val 328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" y="173736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E0F2FE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17830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242316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Environmental Standards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3017520"/>
            <a:ext cx="28803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Cleanrooms require constant control over particulate matter, humidity, and pressure.
• Minor drifts in temperature or air pressure can compromise sterile medicine batches.
• Cleanroom Grade B / ISO Class 7 facilities require regular, multi-zone parameter validation.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416552" y="1508760"/>
            <a:ext cx="3337560" cy="3840480"/>
          </a:xfrm>
          <a:prstGeom prst="roundRect">
            <a:avLst>
              <a:gd name="adj" fmla="val 328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45152" y="173736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FEE2E2"/>
          </a:solidFill>
          <a:ln/>
        </p:spPr>
      </p:sp>
      <p:sp>
        <p:nvSpPr>
          <p:cNvPr id="14" name="Text 12"/>
          <p:cNvSpPr/>
          <p:nvPr/>
        </p:nvSpPr>
        <p:spPr>
          <a:xfrm>
            <a:off x="4645152" y="17830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45152" y="242316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Logging Delays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645152" y="3017520"/>
            <a:ext cx="28803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Manually recording gauge values takes excessive operator time every 1–2 hours.
• Excursions occurring between manual checks can remain unnoticed for hours.
• Paper logs are susceptible to recording errors, illegibility, and potential data loss.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101584" y="1508760"/>
            <a:ext cx="3337560" cy="3840480"/>
          </a:xfrm>
          <a:prstGeom prst="roundRect">
            <a:avLst>
              <a:gd name="adj" fmla="val 328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30184" y="173736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CCFBF1"/>
          </a:solidFill>
          <a:ln/>
        </p:spPr>
      </p:sp>
      <p:sp>
        <p:nvSpPr>
          <p:cNvPr id="19" name="Text 17"/>
          <p:cNvSpPr/>
          <p:nvPr/>
        </p:nvSpPr>
        <p:spPr>
          <a:xfrm>
            <a:off x="8330184" y="17830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330184" y="242316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Lack of Centralized Insights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30184" y="3017520"/>
            <a:ext cx="28803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Separate wall meters do not aggregate telemetry into a single unified screen.
• Difficult to perform historical root-cause analysis without searchable database records.
• Facility managers lack instant notifications when air parameters breach safety zones.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31520" y="5532120"/>
            <a:ext cx="10725912" cy="777240"/>
          </a:xfrm>
          <a:prstGeom prst="roundRect">
            <a:avLst>
              <a:gd name="adj" fmla="val 14118"/>
            </a:avLst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5669280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CleanAir-Pharma Solution: </a:t>
            </a: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Replaces scattered manual clipboard inspections with an automated full-stack web dashboard that continuously ingests, evaluates, stores, and displays cleanroom air telemetry.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31520" y="6446520"/>
            <a:ext cx="10725912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6510528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Air Pharma: Cleanroom Environment and Air Quality Monitor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760720" y="6510528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KLU Hyderabad • Department of CSE • Team No: 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875520" y="6510528"/>
            <a:ext cx="15819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3 of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03. PROJECT GOALS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Objectives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milestones and engineering requirements achieved in the system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261872"/>
            <a:ext cx="10725912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261872"/>
            <a:ext cx="137160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08760"/>
            <a:ext cx="3337560" cy="2240280"/>
          </a:xfrm>
          <a:prstGeom prst="roundRect">
            <a:avLst>
              <a:gd name="adj" fmla="val 489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508760"/>
            <a:ext cx="3337560" cy="73152"/>
          </a:xfrm>
          <a:prstGeom prst="rect">
            <a:avLst/>
          </a:prstGeom>
          <a:solidFill>
            <a:srgbClr val="0284C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7373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54480" y="17373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User-Friendly Dashboard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2194560"/>
            <a:ext cx="2880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 an intuitive, responsive web dashboard showing cleanroom metrics clearly across desktop and mobile workstations without clutter.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16552" y="1508760"/>
            <a:ext cx="3337560" cy="2240280"/>
          </a:xfrm>
          <a:prstGeom prst="roundRect">
            <a:avLst>
              <a:gd name="adj" fmla="val 489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16552" y="1508760"/>
            <a:ext cx="3337560" cy="73152"/>
          </a:xfrm>
          <a:prstGeom prst="rect">
            <a:avLst/>
          </a:prstGeom>
          <a:solidFill>
            <a:srgbClr val="0284C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45152" y="17373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239512" y="17373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Multi-Parameter Display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45152" y="2194560"/>
            <a:ext cx="2880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 8 key environmental parameters (Temp, Humidity, CO2, PM2.5, PM10, Pressure, VOC, Particle Count) with clear status tags.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01584" y="1508760"/>
            <a:ext cx="3337560" cy="2240280"/>
          </a:xfrm>
          <a:prstGeom prst="roundRect">
            <a:avLst>
              <a:gd name="adj" fmla="val 489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01584" y="1508760"/>
            <a:ext cx="3337560" cy="73152"/>
          </a:xfrm>
          <a:prstGeom prst="rect">
            <a:avLst/>
          </a:prstGeom>
          <a:solidFill>
            <a:srgbClr val="0284C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30184" y="17373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924544" y="17373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Relational Data Storage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330184" y="2194560"/>
            <a:ext cx="2880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 all cleanroom sensor metadata, continuous time-series telemetry readings, and alert logs into a robust PostgreSQL database.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" y="3977640"/>
            <a:ext cx="3337560" cy="2240280"/>
          </a:xfrm>
          <a:prstGeom prst="roundRect">
            <a:avLst>
              <a:gd name="adj" fmla="val 489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0" y="3977640"/>
            <a:ext cx="333756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42062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554480" y="42062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Telemetry Review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60120" y="4663440"/>
            <a:ext cx="2880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operators and auditors with queryable historical telemetry records, time-window filtering, and structured CSV export capability.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416552" y="3977640"/>
            <a:ext cx="3337560" cy="2240280"/>
          </a:xfrm>
          <a:prstGeom prst="roundRect">
            <a:avLst>
              <a:gd name="adj" fmla="val 489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416552" y="3977640"/>
            <a:ext cx="333756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45152" y="42062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239512" y="42062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Excursion Alerts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645152" y="4663440"/>
            <a:ext cx="2880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incoming readings against configurable threshold matrices to generate and display NORMAL, WARNING, or CRITICAL alerts instantly.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101584" y="3977640"/>
            <a:ext cx="3337560" cy="2240280"/>
          </a:xfrm>
          <a:prstGeom prst="roundRect">
            <a:avLst>
              <a:gd name="adj" fmla="val 489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101584" y="3977640"/>
            <a:ext cx="333756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30184" y="42062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924544" y="42062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Extensible IoT Architecture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330184" y="4663440"/>
            <a:ext cx="2880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a decoupled backend architecture so physical IoT microcontrollers (ESP32 via MQTT) can be attached later without rewriting the frontend.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31520" y="6446520"/>
            <a:ext cx="10725912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1520" y="6510528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Air Pharma: Cleanroom Environment and Air Quality Monitor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760720" y="6510528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KLU Hyderabad • Department of CSE • Team No: 1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9875520" y="6510528"/>
            <a:ext cx="15819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4 of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04. TECHNICAL 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 Used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Technologies, libraries, and database systems verified in the project implementation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261872"/>
            <a:ext cx="10725912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261872"/>
            <a:ext cx="137160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08760"/>
            <a:ext cx="3337560" cy="4709160"/>
          </a:xfrm>
          <a:prstGeom prst="roundRect">
            <a:avLst>
              <a:gd name="adj" fmla="val 328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" y="1737360"/>
            <a:ext cx="2880360" cy="457200"/>
          </a:xfrm>
          <a:prstGeom prst="roundRect">
            <a:avLst>
              <a:gd name="adj" fmla="val 16000"/>
            </a:avLst>
          </a:prstGeom>
          <a:solidFill>
            <a:srgbClr val="E0F2FE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82880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STACK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2377440"/>
            <a:ext cx="28803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 &amp; TypeScript
</a:t>
            </a: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Component-based UI with strict compile-time type safety.
</a:t>
            </a:r>
            <a:r>
              <a:rPr lang="en-US" sz="11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 8
</a:t>
            </a: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Next-generation build tool and rapid development server.
</a:t>
            </a:r>
            <a:r>
              <a:rPr lang="en-US" sz="11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
</a:t>
            </a: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industrial dark layout optimized for cleanroom screens.
</a:t>
            </a:r>
            <a:r>
              <a:rPr lang="en-US" sz="11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Recharts
</a:t>
            </a: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High-frequency telemetry trend visualization and SVG charts.
</a:t>
            </a:r>
            <a:r>
              <a:rPr lang="en-US" sz="11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Socket.IO Client &amp; Axios
</a:t>
            </a: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WebSocket events and REST communication.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16552" y="1508760"/>
            <a:ext cx="3337560" cy="4709160"/>
          </a:xfrm>
          <a:prstGeom prst="roundRect">
            <a:avLst>
              <a:gd name="adj" fmla="val 328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45152" y="1737360"/>
            <a:ext cx="2880360" cy="457200"/>
          </a:xfrm>
          <a:prstGeom prst="roundRect">
            <a:avLst>
              <a:gd name="adj" fmla="val 16000"/>
            </a:avLst>
          </a:prstGeom>
          <a:solidFill>
            <a:srgbClr val="EDE9FE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45152" y="182880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&amp; MIDDLEWARE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45152" y="2377440"/>
            <a:ext cx="28803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Runtime
</a:t>
            </a: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Asynchronous, event-driven engine for non-blocking I/O.
</a:t>
            </a:r>
            <a:r>
              <a:rPr lang="en-US" sz="11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Express.js Framework
</a:t>
            </a: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 RESTful API architecture and request validation.
</a:t>
            </a:r>
            <a:r>
              <a:rPr lang="en-US" sz="11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Socket.IO Server
</a:t>
            </a: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Sub-second real-time telemetry streaming to browsers.
</a:t>
            </a:r>
            <a:r>
              <a:rPr lang="en-US" sz="11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&amp; bcryptjs
</a:t>
            </a: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hashing and multi-tier Role-Based Access Control.
</a:t>
            </a:r>
            <a:r>
              <a:rPr lang="en-US" sz="11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Polymorphic Ingestion Engine
</a:t>
            </a: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Decoupled SensorDataSource supporting Simulation and MQTT.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01584" y="1508760"/>
            <a:ext cx="3337560" cy="4709160"/>
          </a:xfrm>
          <a:prstGeom prst="roundRect">
            <a:avLst>
              <a:gd name="adj" fmla="val 328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30184" y="1737360"/>
            <a:ext cx="2880360" cy="457200"/>
          </a:xfrm>
          <a:prstGeom prst="roundRect">
            <a:avLst>
              <a:gd name="adj" fmla="val 16000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30184" y="182880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PERSISTENCE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330184" y="2377440"/>
            <a:ext cx="28803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18
</a:t>
            </a: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Battle-tested relational database running on Port 5432.
</a:t>
            </a:r>
            <a:r>
              <a:rPr lang="en-US" sz="11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Relational Tables
</a:t>
            </a: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users, sensors, sensor_readings, alerts, and threshold_config.
</a:t>
            </a:r>
            <a:r>
              <a:rPr lang="en-US" sz="11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 Pooling (pg.Pool)
</a:t>
            </a: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High-concurrency query execution with automatic retry.
</a:t>
            </a:r>
            <a:r>
              <a:rPr lang="en-US" sz="11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Composite Indexes
</a:t>
            </a: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Indexed (sensor_id, timestamp) for rapid historical queries.
</a:t>
            </a:r>
            <a:r>
              <a:rPr lang="en-US" sz="11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Self-Healing Initialization
</a:t>
            </a: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Auto-provisions database schema and seeds demo baselines.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6446520"/>
            <a:ext cx="10725912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6510528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Air Pharma: Cleanroom Environment and Air Quality Monitor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760720" y="6510528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KLU Hyderabad • Department of CSE • Team No: 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875520" y="6510528"/>
            <a:ext cx="15819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5 of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05. SYSTEM 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 Diagram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data flow connecting telemetry ingestion, backend processing, database, and UI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261872"/>
            <a:ext cx="10725912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261872"/>
            <a:ext cx="137160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645920"/>
            <a:ext cx="2560320" cy="438912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828800"/>
            <a:ext cx="2194560" cy="365760"/>
          </a:xfrm>
          <a:prstGeom prst="roundRect">
            <a:avLst>
              <a:gd name="adj" fmla="val 12500"/>
            </a:avLst>
          </a:prstGeom>
          <a:solidFill>
            <a:srgbClr val="E0F2FE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90195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INGESTION SOURCE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914400" y="2377440"/>
            <a:ext cx="21945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Simulated Sensor Data
</a:t>
            </a:r>
            <a:r>
              <a:rPr lang="en-US" sz="1050" i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(Markovian Random Walk)
</a:t>
            </a: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Generates 8 realistic cleanroom metrics every 3 seconds
• Brownian drift with mean-reversion stability
• Interactive spike triggers for testing alert limits
</a:t>
            </a: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Future: MQTT Broker (ESP32 microcontrollers)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29000" y="3566160"/>
            <a:ext cx="411480" cy="320040"/>
          </a:xfrm>
          <a:prstGeom prst="rightArrow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30175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Telemetry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Packets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977640" y="1645920"/>
            <a:ext cx="4023360" cy="4389120"/>
          </a:xfrm>
          <a:prstGeom prst="roundRect">
            <a:avLst>
              <a:gd name="adj" fmla="val 272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60520" y="1828800"/>
            <a:ext cx="3657600" cy="365760"/>
          </a:xfrm>
          <a:prstGeom prst="roundRect">
            <a:avLst>
              <a:gd name="adj" fmla="val 12500"/>
            </a:avLst>
          </a:prstGeom>
          <a:solidFill>
            <a:srgbClr val="EDE9FE"/>
          </a:solidFill>
          <a:ln/>
        </p:spPr>
      </p:sp>
      <p:sp>
        <p:nvSpPr>
          <p:cNvPr id="15" name="Text 13"/>
          <p:cNvSpPr/>
          <p:nvPr/>
        </p:nvSpPr>
        <p:spPr>
          <a:xfrm>
            <a:off x="4160520" y="190195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&amp; EXPRESS BACKEND CORE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60520" y="2331720"/>
            <a:ext cx="36576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 &amp; Evaluation Engine
</a:t>
            </a: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Validates incoming sensor packets
• Evaluates thresholds (NORMAL / WARNING / CRITICAL)
• Alert deduplication engine (60s cooldown tracker)
• REST Endpoints: /api/sensors, /readings, /alerts, /auth
</a:t>
            </a:r>
            <a:r>
              <a:rPr lang="en-US" sz="12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Persistence Engine (Port 5432)
</a:t>
            </a: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PostgreSQL Connection Pool (pg.Pool)
• Inserts readings into sensor_readings &amp; alerts
• Auto-provisioning database migration manager
</a:t>
            </a:r>
            <a:r>
              <a:rPr lang="en-US" sz="12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Dispatcher (Socket.IO)
</a:t>
            </a: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Pushes readings_update event to connected clients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138160" y="3566160"/>
            <a:ext cx="411480" cy="320040"/>
          </a:xfrm>
          <a:prstGeom prst="rightArrow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0" y="30175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Socket.IO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REST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8686800" y="1645920"/>
            <a:ext cx="2770632" cy="4389120"/>
          </a:xfrm>
          <a:prstGeom prst="roundRect">
            <a:avLst>
              <a:gd name="adj" fmla="val 396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69680" y="1828800"/>
            <a:ext cx="2404872" cy="365760"/>
          </a:xfrm>
          <a:prstGeom prst="roundRect">
            <a:avLst>
              <a:gd name="adj" fmla="val 12500"/>
            </a:avLst>
          </a:prstGeom>
          <a:solidFill>
            <a:srgbClr val="CCFBF1"/>
          </a:solidFill>
          <a:ln/>
        </p:spPr>
      </p:sp>
      <p:sp>
        <p:nvSpPr>
          <p:cNvPr id="21" name="Text 19"/>
          <p:cNvSpPr/>
          <p:nvPr/>
        </p:nvSpPr>
        <p:spPr>
          <a:xfrm>
            <a:off x="8869680" y="1901952"/>
            <a:ext cx="24048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 FRONTEND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869680" y="2377440"/>
            <a:ext cx="2404872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Dashboard
</a:t>
            </a:r>
            <a:r>
              <a:rPr lang="en-US" sz="1000" i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(Port 5173)
</a:t>
            </a: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8 Sensor telemetry cards with status indicators
• Global Cleanroom Status banner (NORMAL / CRITICAL)
• High-frequency Recharts telemetry curves
• Role-Based Access Control (Admin, Operator, Viewer)
• Historical logs &amp; CSV export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31520" y="6446520"/>
            <a:ext cx="10725912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6510528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Air Pharma: Cleanroom Environment and Air Quality Monitor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760720" y="6510528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KLU Hyderabad • Department of CSE • Team No: 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875520" y="6510528"/>
            <a:ext cx="15819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6 of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06. OPERATIONAL LIFECYCLE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Process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5-stage continuous pipeline from telemetry generation to real-time client visualization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261872"/>
            <a:ext cx="10725912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261872"/>
            <a:ext cx="137160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645920"/>
            <a:ext cx="2011680" cy="4389120"/>
          </a:xfrm>
          <a:prstGeom prst="roundRect">
            <a:avLst>
              <a:gd name="adj" fmla="val 545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645920"/>
            <a:ext cx="2011680" cy="73152"/>
          </a:xfrm>
          <a:prstGeom prst="rect">
            <a:avLst/>
          </a:prstGeom>
          <a:solidFill>
            <a:srgbClr val="0284C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874520"/>
            <a:ext cx="1645920" cy="274320"/>
          </a:xfrm>
          <a:prstGeom prst="roundRect">
            <a:avLst>
              <a:gd name="adj" fmla="val 13333"/>
            </a:avLst>
          </a:prstGeom>
          <a:solidFill>
            <a:srgbClr val="E0F2FE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92024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68680" y="224028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Telemetry Ingestion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2834640"/>
            <a:ext cx="17373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Readings are generated via Markovian random walk every 3 seconds.
• Simulates 8 cleanroom parameters across designated facility zones.
• Pluggable interface ready for MQTT microcontrollers.
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907792" y="1645920"/>
            <a:ext cx="2011680" cy="4389120"/>
          </a:xfrm>
          <a:prstGeom prst="roundRect">
            <a:avLst>
              <a:gd name="adj" fmla="val 545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07792" y="1645920"/>
            <a:ext cx="201168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90672" y="1874520"/>
            <a:ext cx="1645920" cy="274320"/>
          </a:xfrm>
          <a:prstGeom prst="roundRect">
            <a:avLst>
              <a:gd name="adj" fmla="val 13333"/>
            </a:avLst>
          </a:prstGeom>
          <a:solidFill>
            <a:srgbClr val="CCFBF1"/>
          </a:solidFill>
          <a:ln/>
        </p:spPr>
      </p:sp>
      <p:sp>
        <p:nvSpPr>
          <p:cNvPr id="16" name="Text 14"/>
          <p:cNvSpPr/>
          <p:nvPr/>
        </p:nvSpPr>
        <p:spPr>
          <a:xfrm>
            <a:off x="3090672" y="192024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044952" y="224028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Processing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044952" y="2834640"/>
            <a:ext cx="17373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Express server receives the telemetry packet.
• Compares live readings against threshold_config matrix.
• Determines parameter safety state (NORMAL, WARNING, CRITICAL).
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84064" y="1645920"/>
            <a:ext cx="2011680" cy="4389120"/>
          </a:xfrm>
          <a:prstGeom prst="roundRect">
            <a:avLst>
              <a:gd name="adj" fmla="val 545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84064" y="1645920"/>
            <a:ext cx="2011680" cy="73152"/>
          </a:xfrm>
          <a:prstGeom prst="rect">
            <a:avLst/>
          </a:prstGeom>
          <a:solidFill>
            <a:srgbClr val="0284C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266944" y="1874520"/>
            <a:ext cx="1645920" cy="274320"/>
          </a:xfrm>
          <a:prstGeom prst="roundRect">
            <a:avLst>
              <a:gd name="adj" fmla="val 13333"/>
            </a:avLst>
          </a:prstGeom>
          <a:solidFill>
            <a:srgbClr val="E0F2FE"/>
          </a:solidFill>
          <a:ln/>
        </p:spPr>
      </p:sp>
      <p:sp>
        <p:nvSpPr>
          <p:cNvPr id="22" name="Text 20"/>
          <p:cNvSpPr/>
          <p:nvPr/>
        </p:nvSpPr>
        <p:spPr>
          <a:xfrm>
            <a:off x="5266944" y="192024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221224" y="224028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Persistence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221224" y="2834640"/>
            <a:ext cx="17373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Telemetry records committed to sensor_readings table.
• If parameter breaches threshold, an excursion alert is logged in alerts table.
• Deduplication prevents repeated alert logging.
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260336" y="1645920"/>
            <a:ext cx="2011680" cy="4389120"/>
          </a:xfrm>
          <a:prstGeom prst="roundRect">
            <a:avLst>
              <a:gd name="adj" fmla="val 545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260336" y="1645920"/>
            <a:ext cx="201168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443216" y="1874520"/>
            <a:ext cx="1645920" cy="274320"/>
          </a:xfrm>
          <a:prstGeom prst="roundRect">
            <a:avLst>
              <a:gd name="adj" fmla="val 13333"/>
            </a:avLst>
          </a:prstGeom>
          <a:solidFill>
            <a:srgbClr val="CCFBF1"/>
          </a:solidFill>
          <a:ln/>
        </p:spPr>
      </p:sp>
      <p:sp>
        <p:nvSpPr>
          <p:cNvPr id="28" name="Text 26"/>
          <p:cNvSpPr/>
          <p:nvPr/>
        </p:nvSpPr>
        <p:spPr>
          <a:xfrm>
            <a:off x="7443216" y="192024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4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397496" y="224028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Socket.IO Broadcast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397496" y="2834640"/>
            <a:ext cx="17373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Backend broadcasts readings_update event over WebSocket.
• Connected browser clients receive packet simultaneously in sub-second time.
• No page refreshes or HTTP polling required.
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9436608" y="1645920"/>
            <a:ext cx="2011680" cy="4389120"/>
          </a:xfrm>
          <a:prstGeom prst="roundRect">
            <a:avLst>
              <a:gd name="adj" fmla="val 545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436608" y="1645920"/>
            <a:ext cx="2011680" cy="73152"/>
          </a:xfrm>
          <a:prstGeom prst="rect">
            <a:avLst/>
          </a:prstGeom>
          <a:solidFill>
            <a:srgbClr val="0284C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619488" y="1874520"/>
            <a:ext cx="1645920" cy="274320"/>
          </a:xfrm>
          <a:prstGeom prst="roundRect">
            <a:avLst>
              <a:gd name="adj" fmla="val 13333"/>
            </a:avLst>
          </a:prstGeom>
          <a:solidFill>
            <a:srgbClr val="E0F2FE"/>
          </a:solidFill>
          <a:ln/>
        </p:spPr>
      </p:sp>
      <p:sp>
        <p:nvSpPr>
          <p:cNvPr id="34" name="Text 32"/>
          <p:cNvSpPr/>
          <p:nvPr/>
        </p:nvSpPr>
        <p:spPr>
          <a:xfrm>
            <a:off x="9619488" y="192024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5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9573768" y="224028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Display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573768" y="2834640"/>
            <a:ext cx="17373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React state updates live parameter cards with current values and units.
• Global cleanroom status banner automatically adapts.
• Recharts graphs plot new real-time data points smoothly.
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31520" y="6446520"/>
            <a:ext cx="10725912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1520" y="6510528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Air Pharma: Cleanroom Environment and Air Quality Monitor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760720" y="6510528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KLU Hyderabad • Department of CSE • Team No: 1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9875520" y="6510528"/>
            <a:ext cx="15819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7 of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07. CODEBASE IMPLEMENTATION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Details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organization across the Frontend, Backend, and Database subsystems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261872"/>
            <a:ext cx="10725912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261872"/>
            <a:ext cx="137160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08760"/>
            <a:ext cx="3337560" cy="4709160"/>
          </a:xfrm>
          <a:prstGeom prst="roundRect">
            <a:avLst>
              <a:gd name="adj" fmla="val 328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508760"/>
            <a:ext cx="3337560" cy="73152"/>
          </a:xfrm>
          <a:prstGeom prst="rect">
            <a:avLst/>
          </a:prstGeom>
          <a:solidFill>
            <a:srgbClr val="0284C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73736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Subsystems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2148840"/>
            <a:ext cx="288036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 UI Architecture:
</a:t>
            </a: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with dedicated React components for SensorCard, StatusBanner, Navigation bar, and Sidebar.
</a:t>
            </a:r>
            <a:r>
              <a:rPr lang="en-US" sz="105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Authentication Context:
</a:t>
            </a: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AuthContext manages user session state, JWT tokens, and Remember Me preferences.
</a:t>
            </a:r>
            <a:r>
              <a:rPr lang="en-US" sz="105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Protected Route Guards:
</a:t>
            </a: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ProtectedRoute redirects unauthenticated visitors to /login and enforces RBAC restrictions.
</a:t>
            </a:r>
            <a:r>
              <a:rPr lang="en-US" sz="105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Telemetry Visualization:
</a:t>
            </a: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Recharts SVG curves plot rolling time-series telemetry with dynamic warning/critical threshold lines.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16552" y="1508760"/>
            <a:ext cx="3337560" cy="4709160"/>
          </a:xfrm>
          <a:prstGeom prst="roundRect">
            <a:avLst>
              <a:gd name="adj" fmla="val 328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16552" y="1508760"/>
            <a:ext cx="3337560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45152" y="173736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Subsystems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45152" y="2148840"/>
            <a:ext cx="288036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Service-Layer Separation:
</a:t>
            </a: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separation across ReadingService, AlertService, SensorService, and AuthService.
</a:t>
            </a:r>
            <a:r>
              <a:rPr lang="en-US" sz="105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Engine Deduplication:
</a:t>
            </a: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state tracking suppresses alarm spamming within a 60-second cooldown window.
</a:t>
            </a:r>
            <a:r>
              <a:rPr lang="en-US" sz="105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RESTful API Routing:
</a:t>
            </a: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endpoints with HTTP status codes and middleware validation.
</a:t>
            </a:r>
            <a:r>
              <a:rPr lang="en-US" sz="105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Resilient Dual-Mode Storage:
</a:t>
            </a: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Seamlessly commits to PostgreSQL while maintaining in-memory fallback buffers for zero downtime.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01584" y="1508760"/>
            <a:ext cx="3337560" cy="4709160"/>
          </a:xfrm>
          <a:prstGeom prst="roundRect">
            <a:avLst>
              <a:gd name="adj" fmla="val 328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01584" y="1508760"/>
            <a:ext cx="333756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30184" y="173736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Subsystems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30184" y="2148840"/>
            <a:ext cx="288036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Relational Schema Design:
</a:t>
            </a: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structured tables (users, sensors, sensor_readings, alerts, threshold_config).
</a:t>
            </a:r>
            <a:r>
              <a:rPr lang="en-US" sz="105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Foreign Key Integrity:
</a:t>
            </a: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sensor_readings references sensors(sensor_id) with ON DELETE CASCADE constraints.
</a:t>
            </a:r>
            <a:r>
              <a:rPr lang="en-US" sz="105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Time-Series Optimization:
</a:t>
            </a: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Composite B-tree indexes on (sensor_id, timestamp DESC) for instantaneous range retrieval.
</a:t>
            </a:r>
            <a:r>
              <a:rPr lang="en-US" sz="105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Auto-Provisioning Engine:
</a:t>
            </a: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manager automatically creates cleanair_pharma and seeds baseline data on startup.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31520" y="6446520"/>
            <a:ext cx="10725912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6510528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Air Pharma: Cleanroom Environment and Air Quality Monitor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760720" y="6510528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KLU Hyderabad • Department of CSE • Team No: 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875520" y="6510528"/>
            <a:ext cx="15819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8 of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08. VERIFIED LIVE SCREENSHOTS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Output Screens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application output captured directly from the running project deployment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261872"/>
            <a:ext cx="10725912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261872"/>
            <a:ext cx="137160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08760"/>
            <a:ext cx="5193792" cy="4709160"/>
          </a:xfrm>
          <a:prstGeom prst="roundRect">
            <a:avLst>
              <a:gd name="adj" fmla="val 233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69164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CleanAir-Pharma Live Monitoring Dashboard</a:t>
            </a:r>
            <a:endParaRPr lang="en-US" sz="1350" dirty="0"/>
          </a:p>
        </p:txBody>
      </p:sp>
      <p:pic>
        <p:nvPicPr>
          <p:cNvPr id="9" name="Image 0" descr="C:\Users\karth\.gemini\antigravity\brain\4193e6b3-9bfb-4d13-97ab-c39ea1934616\.user_uploaded\media_1792159341419_db305c8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60120" y="2057400"/>
            <a:ext cx="4736592" cy="2606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60120" y="4800600"/>
            <a:ext cx="473659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Demonstrations:
</a:t>
            </a: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Real-time observation of 8 cleanroom parameters (Temp 22.1°C, Humidity 44.9%, CO2 615.8ppm).
• Overall status banner (NORMAL), Socket.IO live indicator, Operator role badge, and spike controls.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263640" y="1508760"/>
            <a:ext cx="5193792" cy="4709160"/>
          </a:xfrm>
          <a:prstGeom prst="roundRect">
            <a:avLst>
              <a:gd name="adj" fmla="val 233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92240" y="169164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18 Database in pgAdmin 4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6492240" y="4800600"/>
            <a:ext cx="473659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Demonstrations:
</a:t>
            </a: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Verified cleanair_pharma relational database running on PostgreSQL 18 (Port 5432).
• 5 verified tables: alerts, sensor_readings (2,240+ readings logged), sensors, threshold_config, users.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731520" y="6446520"/>
            <a:ext cx="10725912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31520" y="6510528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Air Pharma: Cleanroom Environment and Air Quality Monitor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5760720" y="6510528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KLU Hyderabad • Department of CSE • Team No: 1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9875520" y="6510528"/>
            <a:ext cx="15819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9 of 12</a:t>
            </a:r>
            <a:endParaRPr lang="en-US" sz="9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D52663C-D2FC-D534-46D6-317CA46A82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2011680"/>
            <a:ext cx="4601858" cy="283464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09. EMPIRICAL VALIDATION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and Observations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test cases conducted directly on the full-stack application and database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261872"/>
            <a:ext cx="10725912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261872"/>
            <a:ext cx="137160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508760"/>
          <a:ext cx="10725912" cy="36576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363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Scenario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Expected Result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 Observed Result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A25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Frontend UI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Vite Client Boot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Loads on Port 5173 with dark industrial theme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Loaded in 234ms; responsive across desktop &amp; mobile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A25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Backend API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Health REST Endpoint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GET /api/health returns healthy subsystem state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HTTP 200 OK; reports database connected, 8 sensors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A25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Database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PostgreSQL Connectivity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Node connects to Port 5432 (cleanair_pharma)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Connected successfully; all 5 tables auto-verified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A25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Telemetry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Real-Time Ingestion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Readings continuously saved to sensor_readings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Over 2,240 records logged with timestamps every 3s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A25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Alert Engine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Threshold Excursion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Spiked values trigger WARNING / CRITICAL alerts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Alert generated, deduplicated, and pushed via Socket.IO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A25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JWT Auth &amp; RBAC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Enforces role permissions (Admin, Operator, Viewer)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Bcrypt verification passed; route protection confirmed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31520" y="5349240"/>
            <a:ext cx="10725912" cy="960120"/>
          </a:xfrm>
          <a:prstGeom prst="roundRect">
            <a:avLst>
              <a:gd name="adj" fmla="val 11429"/>
            </a:avLst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60120" y="5440680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Observations &amp; Findings:
</a:t>
            </a: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Socket.IO pushes updates with sub-50ms latency across browser clients.
2. PostgreSQL connection pool smoothly handles continuous telemetry inserts while serving concurrent historical queries.
3. Authentication correctly rejects unauthorized modifications to sensors or thresholds.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31520" y="6446520"/>
            <a:ext cx="10725912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8"/>
          <p:cNvSpPr/>
          <p:nvPr/>
        </p:nvSpPr>
        <p:spPr>
          <a:xfrm>
            <a:off x="731520" y="6510528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Air Pharma: Cleanroom Environment and Air Quality Monitor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760720" y="6510528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KLU Hyderabad • Department of CSE • Team No: 1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9875520" y="6510528"/>
            <a:ext cx="15819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10 of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SCALABILITY &amp; ROADMAP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Enhancements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 technical expansions, hardware integrations, and intelligence capabilities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261872"/>
            <a:ext cx="10725912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261872"/>
            <a:ext cx="137160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08760"/>
            <a:ext cx="5193792" cy="2240280"/>
          </a:xfrm>
          <a:prstGeom prst="roundRect">
            <a:avLst>
              <a:gd name="adj" fmla="val 489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508760"/>
            <a:ext cx="5193792" cy="73152"/>
          </a:xfrm>
          <a:prstGeom prst="rect">
            <a:avLst/>
          </a:prstGeom>
          <a:solidFill>
            <a:srgbClr val="0284C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7373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54480" y="17373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Industrial IoT Sensors (Hardware)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2194560"/>
            <a:ext cx="4709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Connect physical ESP32 or Raspberry Pi microcontrollers via industrial MQTT.
• Interface with physical BME280 (Temp/Humidity/Pressure) and optical dust counters (PMS5003).
• Demonstrates seamless transition from simulation to field hardware.
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72784" y="1508760"/>
            <a:ext cx="5193792" cy="2240280"/>
          </a:xfrm>
          <a:prstGeom prst="roundRect">
            <a:avLst>
              <a:gd name="adj" fmla="val 489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72784" y="1508760"/>
            <a:ext cx="5193792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01384" y="17373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95744" y="17373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Multi-Channel Emergency Alarms (Notifications)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01384" y="2194560"/>
            <a:ext cx="4709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Integrate Twilio SMS API and SendGrid Email dispatch for critical excursions.
• Automated duty-officer call tree when differential pressure drops below limit.
• Push notifications for cleanroom managers on mobile devices.
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3977640"/>
            <a:ext cx="5193792" cy="2240280"/>
          </a:xfrm>
          <a:prstGeom prst="roundRect">
            <a:avLst>
              <a:gd name="adj" fmla="val 489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3977640"/>
            <a:ext cx="5193792" cy="73152"/>
          </a:xfrm>
          <a:prstGeom prst="rect">
            <a:avLst/>
          </a:prstGeom>
          <a:solidFill>
            <a:srgbClr val="0284C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42062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554480" y="42062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Anomaly Forecasting (Machine Learning)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60120" y="4663440"/>
            <a:ext cx="4709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Implement predictive machine learning models using historical telemetry trends.
• Forecast HEPA filter degradation and airflow blockages before threshold breaches occur.
• Proactive HVAC maintenance recommendations.
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72784" y="3977640"/>
            <a:ext cx="5193792" cy="2240280"/>
          </a:xfrm>
          <a:prstGeom prst="roundRect">
            <a:avLst>
              <a:gd name="adj" fmla="val 489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72784" y="3977640"/>
            <a:ext cx="5193792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01384" y="42062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095744" y="42062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Multi-Facility Cleanroom Mapping (Enterprise)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01384" y="4663440"/>
            <a:ext cx="4709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Expand database schema to manage multiple rooms (Zone A, B, C, Airlocks, Pass-Throughs).
• Interactive 2D cleanroom floorplan with color-coded live risk zones.
• PDF compliance report generation for audits.
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31520" y="6446520"/>
            <a:ext cx="10725912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6510528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Air Pharma: Cleanroom Environment and Air Quality Monitor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760720" y="6510528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KLU Hyderabad • Department of CSE • Team No: 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875520" y="6510528"/>
            <a:ext cx="15819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11 of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 PROJECT SUMMARY &amp; CLOSING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of achievements, technical impact, and acknowledgments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261872"/>
            <a:ext cx="10725912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261872"/>
            <a:ext cx="137160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08760"/>
            <a:ext cx="6217920" cy="4709160"/>
          </a:xfrm>
          <a:prstGeom prst="roundRect">
            <a:avLst>
              <a:gd name="adj" fmla="val 233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508760"/>
            <a:ext cx="621792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78308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Project Takeaways &amp; Impact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2240280"/>
            <a:ext cx="5669280" cy="3794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Centralized Cleanroom Supervision:
</a:t>
            </a: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Eliminated reliance on manual clipboard records by creating an automated, unified telemetry monitoring dashboard.
</a:t>
            </a:r>
            <a:r>
              <a:rPr lang="en-US" sz="115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Full-Stack Integration:
</a:t>
            </a: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Successfully connected React 19, Node.js, Express, Socket.IO, and PostgreSQL 18 into a reliable, low-latency pipeline.
</a:t>
            </a:r>
            <a:r>
              <a:rPr lang="en-US" sz="115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Air Quality Awareness:
</a:t>
            </a: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evaluation of 8 critical parameters with instant visual status tagging and automated excursion alerts.
</a:t>
            </a:r>
            <a:r>
              <a:rPr lang="en-US" sz="115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Honesty &amp; Extensibility:
</a:t>
            </a: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Clearly documented simulation mechanism with a decoupled, MQTT-ready architecture built for future physical sensor deployments.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178040" y="1508760"/>
            <a:ext cx="4279392" cy="4709160"/>
          </a:xfrm>
          <a:prstGeom prst="roundRect">
            <a:avLst>
              <a:gd name="adj" fmla="val 2564"/>
            </a:avLst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06640" y="1920240"/>
            <a:ext cx="38221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7406640" y="2514600"/>
            <a:ext cx="38221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412480" y="2971800"/>
            <a:ext cx="182880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06640" y="3154680"/>
            <a:ext cx="3822192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Air Pharma: Cleanroom Environment &amp; Air Quality Monitor
</a:t>
            </a:r>
            <a:r>
              <a:rPr lang="en-US" sz="11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Guide:
</a:t>
            </a: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Karumuri Sri Rama Murthy
Assistant Professor, Dept. of CSE
</a:t>
            </a:r>
            <a:r>
              <a:rPr lang="en-US" sz="11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Team (Team No: 1):
</a:t>
            </a: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K. Harshit (2520040035)
• N. Karthik Ram Prasad (2520040046)
• T. Teja Naidu (2520049126)
</a:t>
            </a: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Computer Science &amp; Engineering</a:t>
            </a:r>
            <a:endParaRPr lang="en-US" sz="110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KLU Hyderabad, Hyderabad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6446520"/>
            <a:ext cx="10725912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6510528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Air Pharma: Cleanroom Environment and Air Quality Monitor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760720" y="6510528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KLU Hyderabad • Department of CSE • Team No: 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875520" y="6510528"/>
            <a:ext cx="15819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12 of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2694</Words>
  <Application>Microsoft Office PowerPoint</Application>
  <PresentationFormat>Custom</PresentationFormat>
  <Paragraphs>218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Karthik Ram Prasad</cp:lastModifiedBy>
  <cp:revision>1</cp:revision>
  <dcterms:created xsi:type="dcterms:W3CDTF">2026-10-16T15:37:56Z</dcterms:created>
  <dcterms:modified xsi:type="dcterms:W3CDTF">2026-10-17T04:05:43Z</dcterms:modified>
</cp:coreProperties>
</file>